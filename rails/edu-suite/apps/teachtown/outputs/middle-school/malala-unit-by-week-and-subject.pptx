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A6F3-CABF-2A81-0843-548281BF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99DC3-AF1C-8C9F-A11F-500B27ABF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974B2-FC96-3175-D8A0-3B33D464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A75C-B8F4-16B0-EF54-2BE77DE2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4B49A-A1F4-7A3F-A7AD-899A8D9B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6552-DC0D-7CD1-E7DF-21D31659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AB49-DA06-51F0-1288-F33394A6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B698-805E-AE3D-52F0-151CE095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3EEC1-0C06-47BE-0117-ADB8E33F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C250-050B-30B9-4488-AE5C29C8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7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8070-60E5-0852-F74A-97B5A001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D3F59-AEE7-F593-9ACF-96944C50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66C88-30EC-0DF5-3190-4D87B7F7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91FE2-4A85-61BE-4B29-BD3C6CF2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8BE00-6040-C832-A282-18415DC6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7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FC8D-D594-ADFE-ACA2-7171686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768F-2EA7-8FB4-012B-40C67ADA1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CB84F-4994-1DAE-A05F-49654AACD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204C0-AAB7-130F-5DA6-0324CC6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0F9DE-B1D6-A580-ED22-92922672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6A407-36D8-B71F-31D8-B1703335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10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A062-C9F3-72F9-6C2E-C723D477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C2208-9866-78A1-5324-A98BB170A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6B34D-82D1-CE7F-68A1-DB73A21D9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F41C8-DABC-9BD0-6C01-1B48F48E8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0F1ED-BA82-6E46-4FFC-4ACE441F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99027-D57E-1A9A-CE7A-827C3957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C02D6-823D-6AFD-C28C-49FDD88E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EFC64-E13C-8B28-8972-CB8CC888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5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728A-B21C-833D-A85E-2255EF08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92B06-AF24-0F3F-CD6F-C984ADCB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FF559-8564-CDAF-D675-F68DF8BC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2F1DA-A595-85B2-AD08-EC20CD668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6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C58B2-2C2E-3410-BD53-1D04F6AC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43D9A-CD3C-B242-DB58-FFD96169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88A45-3C71-1E52-EB56-D6E045F8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7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29AF-B345-1510-602A-FD6B868A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09179-66AB-94FE-9F7A-CE979A962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DA067-0E6B-EC28-12F3-90C8382D5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C0C2B-9F71-CE95-321C-1E03AD77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C9036-7D15-CBCC-FCA6-83B4162F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D42F9-F777-79F7-F71D-9176754D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4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BF48-B031-D03B-6374-EC6258A0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FA469-A3F8-CB16-A22D-4E6F8E796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41A40-83AD-6327-2655-B5234E2F6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E9850-178F-B84E-710C-0F653A70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5D5AD-2502-402E-430A-02770158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DC34-546B-9FE9-AAC1-A72D0DE5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7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07A5-FBA8-740B-44F0-39EFEC01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AF2D7-7C53-6934-BB8F-0747C384C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7739D-9C99-B96E-F71C-87E350B8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8820B-D015-17EE-54DA-48203401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C4FB-B7D7-ABD3-9F25-D09D0673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8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C38A2-CA71-386A-76FE-92F19EC6C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880F6-5C0C-D4CF-AF0E-220765A6B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8154-94A2-6439-FA46-BB43C425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52AEF-3828-0067-F421-DFFE037E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1659B-EEA5-8FDE-9135-66B90475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B617A-32B9-5295-2CA3-AC117EEC2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37CAA-3581-1CA6-8023-01587102C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E0ECD-6078-6727-92F2-8D9066C19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C930E-02B7-412E-BC6B-50A0CE138F7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1AF26-DB62-E56B-3181-CE14066E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6EB66-FEC8-0566-486F-E9336B9C2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95E8C-3083-4341-B2FE-3F743A059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3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A1AE95-D4A2-58C7-A6CF-4282997B8D32}"/>
              </a:ext>
            </a:extLst>
          </p:cNvPr>
          <p:cNvSpPr/>
          <p:nvPr/>
        </p:nvSpPr>
        <p:spPr>
          <a:xfrm>
            <a:off x="635000" y="635000"/>
            <a:ext cx="203200" cy="3810000"/>
          </a:xfrm>
          <a:prstGeom prst="rect">
            <a:avLst/>
          </a:prstGeom>
          <a:solidFill>
            <a:srgbClr val="CA5B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AB93C-28B7-75CD-6DC5-BF0780FB9160}"/>
              </a:ext>
            </a:extLst>
          </p:cNvPr>
          <p:cNvSpPr txBox="1"/>
          <p:nvPr/>
        </p:nvSpPr>
        <p:spPr>
          <a:xfrm>
            <a:off x="1168400" y="8890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A5B4A"/>
                </a:solidFill>
                <a:latin typeface="Aptos" panose="020B0004020202020204" pitchFamily="34" charset="0"/>
              </a:rPr>
              <a:t>TEACHTOWN ENCORE • FOUR-WEEK UNIT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16597-A807-6191-E9C5-122701957DF5}"/>
              </a:ext>
            </a:extLst>
          </p:cNvPr>
          <p:cNvSpPr txBox="1"/>
          <p:nvPr/>
        </p:nvSpPr>
        <p:spPr>
          <a:xfrm>
            <a:off x="1168400" y="1841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Aptos" panose="020B0004020202020204" pitchFamily="34" charset="0"/>
              </a:rPr>
              <a:t>Malala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D0B1A-2D52-BA54-2C09-A86B06255305}"/>
              </a:ext>
            </a:extLst>
          </p:cNvPr>
          <p:cNvSpPr txBox="1"/>
          <p:nvPr/>
        </p:nvSpPr>
        <p:spPr>
          <a:xfrm>
            <a:off x="1168400" y="3429000"/>
            <a:ext cx="889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D2DCE7"/>
                </a:solidFill>
                <a:latin typeface="Aptos" panose="020B0004020202020204" pitchFamily="34" charset="0"/>
              </a:rPr>
              <a:t>Courage, voice, leadership, and change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C12C2-A41B-56E6-F91D-08DE818B83FC}"/>
              </a:ext>
            </a:extLst>
          </p:cNvPr>
          <p:cNvSpPr txBox="1"/>
          <p:nvPr/>
        </p:nvSpPr>
        <p:spPr>
          <a:xfrm>
            <a:off x="1168400" y="55880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AABACC"/>
                </a:solidFill>
                <a:latin typeface="Aptos" panose="020B0004020202020204" pitchFamily="34" charset="0"/>
              </a:rPr>
              <a:t>Teacher planning deck • Organized by week and subject</a:t>
            </a:r>
          </a:p>
        </p:txBody>
      </p:sp>
    </p:spTree>
    <p:extLst>
      <p:ext uri="{BB962C8B-B14F-4D97-AF65-F5344CB8AC3E}">
        <p14:creationId xmlns:p14="http://schemas.microsoft.com/office/powerpoint/2010/main" val="24247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C605D-9636-B9E3-2AA4-76D283CEF3F2}"/>
              </a:ext>
            </a:extLst>
          </p:cNvPr>
          <p:cNvSpPr txBox="1"/>
          <p:nvPr/>
        </p:nvSpPr>
        <p:spPr>
          <a:xfrm>
            <a:off x="533400" y="431800"/>
            <a:ext cx="1092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E293B"/>
                </a:solidFill>
                <a:latin typeface="Aptos" panose="020B0004020202020204" pitchFamily="34" charset="0"/>
              </a:rPr>
              <a:t>The unit builds one connected learning arc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276E3-4FB6-A647-834F-DC5FAC95C744}"/>
              </a:ext>
            </a:extLst>
          </p:cNvPr>
          <p:cNvSpPr txBox="1"/>
          <p:nvPr/>
        </p:nvSpPr>
        <p:spPr>
          <a:xfrm>
            <a:off x="533400" y="11684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C697A"/>
                </a:solidFill>
                <a:latin typeface="Aptos" panose="020B0004020202020204" pitchFamily="34" charset="0"/>
              </a:rPr>
              <a:t>Each week advances the anchor text while math, science, and social studies develop parallel concepts.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35C289-6531-CBB2-A92B-08BB474B614B}"/>
              </a:ext>
            </a:extLst>
          </p:cNvPr>
          <p:cNvSpPr/>
          <p:nvPr/>
        </p:nvSpPr>
        <p:spPr>
          <a:xfrm>
            <a:off x="533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B5682-ED12-6A5C-6F49-D2507D27A4E7}"/>
              </a:ext>
            </a:extLst>
          </p:cNvPr>
          <p:cNvSpPr txBox="1"/>
          <p:nvPr/>
        </p:nvSpPr>
        <p:spPr>
          <a:xfrm>
            <a:off x="762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CA5B4A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D5200-C213-4CCC-C700-C701ECC0B3B9}"/>
              </a:ext>
            </a:extLst>
          </p:cNvPr>
          <p:cNvSpPr txBox="1"/>
          <p:nvPr/>
        </p:nvSpPr>
        <p:spPr>
          <a:xfrm>
            <a:off x="762000" y="2921000"/>
            <a:ext cx="20828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Meet Malala and establish the big ideas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1325D-19E1-A6CE-8295-2C225E124EB4}"/>
              </a:ext>
            </a:extLst>
          </p:cNvPr>
          <p:cNvSpPr txBox="1"/>
          <p:nvPr/>
        </p:nvSpPr>
        <p:spPr>
          <a:xfrm>
            <a:off x="762000" y="4191000"/>
            <a:ext cx="20828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Science
Social Studies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B661F4-7717-2E2C-57FB-A2667F5A5C3D}"/>
              </a:ext>
            </a:extLst>
          </p:cNvPr>
          <p:cNvSpPr/>
          <p:nvPr/>
        </p:nvSpPr>
        <p:spPr>
          <a:xfrm>
            <a:off x="3327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FC804-55EC-CFD4-C8B7-8F6401A258ED}"/>
              </a:ext>
            </a:extLst>
          </p:cNvPr>
          <p:cNvSpPr txBox="1"/>
          <p:nvPr/>
        </p:nvSpPr>
        <p:spPr>
          <a:xfrm>
            <a:off x="3556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CA5B4A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5861F-BC13-3C56-47D7-B15E94B09FDA}"/>
              </a:ext>
            </a:extLst>
          </p:cNvPr>
          <p:cNvSpPr txBox="1"/>
          <p:nvPr/>
        </p:nvSpPr>
        <p:spPr>
          <a:xfrm>
            <a:off x="3556000" y="2921000"/>
            <a:ext cx="20828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Trace causes, choices, and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58830-357A-CBEC-08A9-36E7968BB5FD}"/>
              </a:ext>
            </a:extLst>
          </p:cNvPr>
          <p:cNvSpPr txBox="1"/>
          <p:nvPr/>
        </p:nvSpPr>
        <p:spPr>
          <a:xfrm>
            <a:off x="3556000" y="4191000"/>
            <a:ext cx="20828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Science
Social Studies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F8EE47-31F6-3F69-1027-02CC29EDBC0D}"/>
              </a:ext>
            </a:extLst>
          </p:cNvPr>
          <p:cNvSpPr/>
          <p:nvPr/>
        </p:nvSpPr>
        <p:spPr>
          <a:xfrm>
            <a:off x="6121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53462-4912-3D72-2476-2B6A303DB84B}"/>
              </a:ext>
            </a:extLst>
          </p:cNvPr>
          <p:cNvSpPr txBox="1"/>
          <p:nvPr/>
        </p:nvSpPr>
        <p:spPr>
          <a:xfrm>
            <a:off x="6350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CA5B4A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458BC-7016-435F-0FC1-B71C07931B85}"/>
              </a:ext>
            </a:extLst>
          </p:cNvPr>
          <p:cNvSpPr txBox="1"/>
          <p:nvPr/>
        </p:nvSpPr>
        <p:spPr>
          <a:xfrm>
            <a:off x="6350000" y="2921000"/>
            <a:ext cx="20828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Expand the story and apply new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8A5ED-66D8-637A-6726-0D44AEDC4504}"/>
              </a:ext>
            </a:extLst>
          </p:cNvPr>
          <p:cNvSpPr txBox="1"/>
          <p:nvPr/>
        </p:nvSpPr>
        <p:spPr>
          <a:xfrm>
            <a:off x="6350000" y="4191000"/>
            <a:ext cx="20828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
Social Studies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88D269-C7D4-BA96-9564-FCC3FF12E9F5}"/>
              </a:ext>
            </a:extLst>
          </p:cNvPr>
          <p:cNvSpPr/>
          <p:nvPr/>
        </p:nvSpPr>
        <p:spPr>
          <a:xfrm>
            <a:off x="8915400" y="2159000"/>
            <a:ext cx="2565400" cy="3048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EF0E6-7225-00D9-BF19-CA91CCD3AAFC}"/>
              </a:ext>
            </a:extLst>
          </p:cNvPr>
          <p:cNvSpPr txBox="1"/>
          <p:nvPr/>
        </p:nvSpPr>
        <p:spPr>
          <a:xfrm>
            <a:off x="9144000" y="2413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CA5B4A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601D6D-8A9B-764A-DF5A-05B5CC19CDC3}"/>
              </a:ext>
            </a:extLst>
          </p:cNvPr>
          <p:cNvSpPr txBox="1"/>
          <p:nvPr/>
        </p:nvSpPr>
        <p:spPr>
          <a:xfrm>
            <a:off x="9144000" y="2921000"/>
            <a:ext cx="20828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1E293B"/>
                </a:solidFill>
                <a:latin typeface="Aptos" panose="020B0004020202020204" pitchFamily="34" charset="0"/>
              </a:rPr>
              <a:t>Synthesize the message and demonstrate learning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3639A-B502-7EDF-84A5-A79A38CD8C3F}"/>
              </a:ext>
            </a:extLst>
          </p:cNvPr>
          <p:cNvSpPr txBox="1"/>
          <p:nvPr/>
        </p:nvSpPr>
        <p:spPr>
          <a:xfrm>
            <a:off x="9144000" y="4191000"/>
            <a:ext cx="208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ELA
Math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388BA8-5E39-499D-2DF1-3F3D6FCDE92E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20D08C-A272-027A-9111-9DBEC7348ED2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867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5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1B7B8-26CD-8D21-9ABE-E56B8F2C4B5B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A79EA-1B40-D4C5-7825-CA175C648930}"/>
              </a:ext>
            </a:extLst>
          </p:cNvPr>
          <p:cNvSpPr txBox="1"/>
          <p:nvPr/>
        </p:nvSpPr>
        <p:spPr>
          <a:xfrm>
            <a:off x="660400" y="1841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Meet Malala and establish the big ideas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C3AB2-C72A-785E-D2DC-830D4C3FD5AF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Science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FB991-FA2C-6312-AF6A-19458C44CE28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Students enter the story, then connect leadership, geometry, and heat to the world around them.</a:t>
            </a:r>
          </a:p>
        </p:txBody>
      </p:sp>
    </p:spTree>
    <p:extLst>
      <p:ext uri="{BB962C8B-B14F-4D97-AF65-F5344CB8AC3E}">
        <p14:creationId xmlns:p14="http://schemas.microsoft.com/office/powerpoint/2010/main" val="137949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00963-6D1D-1DA3-4327-0703C1BF7C78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1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EDE19-CB3A-FF72-9006-0E63FA384A00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Introducing the text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CDCC3B-2022-18A3-20DB-AA3030E9E628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9520A-E9DE-4D6F-CA71-17CC02658DD4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3D37C-CC7C-2621-C59D-E07791A304BA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Identify key people, events, author perspective, and literal or nonliteral language.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D4894-EC3A-09D1-22C4-EAEF04FA90E6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961B0-3989-8127-68E7-BF3F507AF898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Malala • education • rights • leader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22AB6-8B18-E1D1-65BC-07A6CF1A031B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94D9A-40F5-0DBA-7AC8-2543EAC14360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Use details to retell important events.
• Support an idea with evidence from the text.
• Begin a short research and writing task.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6E05BA-1946-5280-86C2-3B0B55C1B140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822F5-44C6-D50A-72E9-D9D76750DB36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1 ELA teacher guide
• Reading Comp and Warm Up PDFs
• Malala adapted book or e-reader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24AAE-E4E3-E5AB-FFCD-E81F40877CE7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8EB8F-2FA1-6060-6D57-A801F73305D5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56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6FF2A-D14E-B8C5-D2E5-565D180E79F5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1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B0F2F-4B53-E355-024C-00BF6C038321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Area of triangles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6D63E0-644C-47F3-620D-2B39FB073BE2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C28E4-B0B5-2546-53CE-A8A8F0DDD882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5D06-7B24-4D8E-7266-095E0A856656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Apply the triangle area formula using base and height.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87FD5-A794-E0AE-E5E3-BA60543A9860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AA3D0-F8EF-7978-A695-321CFFD69158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triangle • area • base • height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8EA32-A8D3-6923-4DF5-57ABB41C7C8B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126AD-8F82-2DFE-12FF-0BE96CA2C627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the base and height of a triangle.
• Use A = ½bh with level-appropriate support.
• Solve area problems using models or calculation.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AA6E4-0A10-FB33-C0D1-EA5DD6414D77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E0B558-CA08-9167-6724-C2F51C06EEDD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1 Math teacher guide
• Area worksheet
• Math warm-up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E0A10-6FB2-4137-CA76-D4838509C211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79E33-4673-2050-0ED9-B0934B877241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4614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016D7-C057-3D68-70AD-537525E3107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1  /  SCIENCE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9E3D6-E618-9ADE-F01E-BA7D012BAEF2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Heat, surfaces, and solutions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CE0CAC-6D23-AAE6-9644-84223C227300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D38C7-D772-CA06-E5CF-34DAF54635DB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7A3F8-7D32-6206-E7DA-1F809A0C50A0}"/>
              </a:ext>
            </a:extLst>
          </p:cNvPr>
          <p:cNvSpPr txBox="1"/>
          <p:nvPr/>
        </p:nvSpPr>
        <p:spPr>
          <a:xfrm>
            <a:off x="787400" y="2603500"/>
            <a:ext cx="279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Investigate how surfaces absorb and transfer heat.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6582C-B9B5-DD5F-4EEE-7C3CA5669A56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6B228-E409-3463-8637-C20C2F60480B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problem • solution • heat • energy • absorb • transfer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1B739-CF6B-6524-E10A-EC1ED45F2C7F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D4115-1871-5425-079D-6C48C9DBCBFD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Recognize a heat-related problem.
• Compare temperature changes across dark and light surfaces.
• Use observations to identify a possible solution.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197CB-3374-2163-818B-D7F5A13AA516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F670B-0FD0-6063-5D26-0B575D4AE8EC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1 Science teacher guide
• Heat picture and definition cards
• Heat experiment worksheet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1E5BD-BE98-E89C-59BF-9DD93C0EAC39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D7E8E-B3AD-1788-2F95-18C5FD0BF4EC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4355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19412-FC2B-3F1C-B32F-31F08191D9A9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1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B2CB8-B32C-8575-9B90-E137CD749DD1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Leaders across civilizations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2668B8-097D-EA17-9DD5-5800A7F2C8F3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D4E88-021B-8484-9FE7-CCEA14B4F340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774C9-9E91-ED2C-DA0D-922532F36148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Compare leaders and governments in different regions and periods.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3EAEF-8A80-F6C9-EA86-C4AF82969859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2FBAF-B40B-7AD4-EB3D-681E75339A39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pharaoh • dynasty • republic • assembly • emperor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801BE-289A-9BAC-6CAE-EACF157F845A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BBD5F-46B0-552D-4815-F4F98B408179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Recognize that regions have different leaders.
• Match ancient civilizations with leadership forms.
• Explain that government leadership changes over 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D14DA-9E85-9E02-64DA-7BC9E28ADAE5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E9D82-A34F-B154-3C4A-E269CBD27F43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1 guide
• Ancient Leaders vocabulary cards
• Ancient Leaders map worksheet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3A227-7AC5-B0D6-E492-45309B412BC4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24496-F28E-0004-0548-32AAA3D6DB47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75151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5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B4DF8-891D-5EFF-A080-6B410E72DDB5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E1E78-0634-6F04-3B6F-6BC1F2AD82A7}"/>
              </a:ext>
            </a:extLst>
          </p:cNvPr>
          <p:cNvSpPr txBox="1"/>
          <p:nvPr/>
        </p:nvSpPr>
        <p:spPr>
          <a:xfrm>
            <a:off x="660400" y="1841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Trace causes, choices, and change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D1E2B-FEC4-0D1E-6E50-879DE5639026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Science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4BBF9-E51B-DAEC-048B-5F48E8B64DD4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The initiating events frame investigations of conflict, area, and heat transfer.</a:t>
            </a:r>
          </a:p>
        </p:txBody>
      </p:sp>
    </p:spTree>
    <p:extLst>
      <p:ext uri="{BB962C8B-B14F-4D97-AF65-F5344CB8AC3E}">
        <p14:creationId xmlns:p14="http://schemas.microsoft.com/office/powerpoint/2010/main" val="32750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55D24B-6E3F-A7F3-5D3D-63447B5674C4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2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EC521-B0C6-D30F-B73C-10540AB98DB5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Initiating events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927141-908C-76CF-A736-BE42772BB6DD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BF83A-468A-DBBD-EB54-B63B690EB683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7D880-7CE0-0C9B-1C65-B10F0A0BD988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Track the events that launch the central conflict and develop a writing plan.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DF010-2CE6-ED0D-EEFB-1B8FB834DFC9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57966-9A4F-690B-8D93-661399657644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event • evidence • theme • setting • 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EB953-7428-0DD9-AC23-392931B22B7B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DCC18-1870-BA0F-536F-E8D0BF145764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key people and initiating events.
• Explain how events affect theme or plot.
• Draft an introduction and continue the writing process.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914E9-393C-599D-62C4-A5BA87D686EF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CEB48-CC62-F08D-18A3-25BDC1737652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2 ELA teacher guide
• Phonics and vocabulary materials
• Writing 2 and story grammar organizers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2A016-3B20-4CB9-3692-61872D282B4B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02881F-1EE3-0F19-DABD-82C682732C14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1906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90E351-BC4C-9AFD-95F7-3778304B3CBD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2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65C72-901B-4F9B-7FC4-D6475736B62E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Area of quadrilaterals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D197D5-2AA8-0953-B717-6DBB8CF44DAE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94846-4258-C9AE-1C08-BF626639E935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86CC2-DE0B-8746-9607-0554A1134986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Find area of squares and rectangles with models and formulas.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E3431-D9D8-F197-9116-52CE058AAB05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6C22D-25A3-8ED1-8802-01D26208595C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square • rectangle • area • length • width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D6445-1D32-20E5-B3B2-D82846DAD42F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48102-583F-7427-118F-CB69C1C0EAAA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dimensions of a quadrilateral.
• Use grids or multiplication to find area.
• Solve level-appropriate real-world problems.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0D323-FA0B-D5B8-1990-1C6FE887B3D5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EEDFE-0080-95EA-7FBC-090AB562349C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2 Math teacher guide
• Area of a Quadrilateral worksheets
• 10×10 grid and number cards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9B8AE-FB7A-0BE6-3E97-ECE1BB9667C2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E7013-327F-B0E4-14EF-26EFAE84F423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3791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31B40-CB28-AC4A-B637-1BD8E41EA15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2  /  SCIENCE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22AD1-B53F-EF90-D9DC-CFF0E9257736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Materials absorb heat differently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0D8DBB-620B-9EB0-2E46-B12B77E7913B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DF50A-658B-B274-974B-5E1C46652EC1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1FB9B-EF56-2E7C-3D0C-DE420A033431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Sort and compare materials by heat absorption and transfer.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1A7EA-5B4E-AC90-977E-1FF0D85BA7D0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FBFA1-F4E2-3224-C018-F98C6C112464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heat • absorb • dark • light • material • transfer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70092-FB6C-16D0-D353-B2F02C665CEA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44ABF-D4E6-5E05-5475-940BBB8F9572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Classify surfaces as dark or light.
• Connect material properties to heat absorption.
• Recognize solutions that reduce surface heat.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5CE0D-E335-13F9-41D7-188106D9BFBF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87FDC-CD07-ED21-C75F-E6AF3D65A1BE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2 Science teacher guide
• Heat sorting worksheet
• Heat picture and definition cards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A48F0-DEEA-5107-EF8F-EBF6983FACD4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EA9559-EC62-2E76-4F4E-DE2540B7FB0B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8894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00EC0-6E1A-CD6F-D129-EF4994CAFD2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2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0BDE8-AA0B-32A4-6771-146C60E0D946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Why conflicts begin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B3AB10-CD1E-94F6-BC7F-101669A20DA4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F1876-6A20-136C-BE7A-40ECF813230B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42BF9-2B58-3326-2EA8-A77993634357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Connect power struggles to common reasons nations or groups fight.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1263E-38B5-408A-6A2B-7E2F2F9F1D1E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5C597-96E5-BB9D-D8C0-5E7B5E42E8CC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economic gain • nationalism • religion • revolution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F7601-C7CB-480D-7717-61EE8695094F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AD151-AECD-B11E-5ADA-75F31C1A1423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Recognize that wars may be fought for control.
• Identify characteristics of a power struggle.
• Match historical conflicts to possible causes.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DB3D3-9247-3D8C-CDF6-819363518A7A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FEC32-A95E-C2BB-80D2-0D0B93401DBE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2 guide
• Reasons for War vocabulary cards
• Reasons for War matching worksheet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39A05-DB6B-F1FC-92D7-FC00BEB122E5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23896B-090E-07F7-6BF9-0D2C83D57528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3533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5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7E18F-A336-E5EC-C128-2B3F2EB03067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8F2D5-6F0F-2903-72FD-EA88DF42F20E}"/>
              </a:ext>
            </a:extLst>
          </p:cNvPr>
          <p:cNvSpPr txBox="1"/>
          <p:nvPr/>
        </p:nvSpPr>
        <p:spPr>
          <a:xfrm>
            <a:off x="660400" y="1841500"/>
            <a:ext cx="10160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Expand the story and apply new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C5C7A-09C5-5C61-2EE1-2E219BD9A976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  •  Social Studies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7087D-1520-9AE6-696C-D325923FA331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Students deepen comprehension while using coordinates and practicing civic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535760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90126-6EB1-E294-3793-2F5478431A79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3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2C096-B245-BF05-630D-4BD0B79E89F3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Expanding events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44B7A-B0A9-6689-712C-34F5552C670E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AB793-7363-27B1-EC33-33D5371913B7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B1DCB-DEA8-5CDB-BEEE-26C3B0DB362E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Explain how later events elaborate people, ideas, and the plot.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10947-5F03-7484-3C0B-954E0D4CCF4D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D0167-3820-14D8-C2A5-79D1F3B8E9D7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injured • hospital • evidence • 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DF15D-6EC2-1EF1-5FE5-9D59BDE7D3F3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FCA84-17AF-AB58-87E0-A9BC2AA74A09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expanding events and key details.
• Use text evidence in discussion or writing.
• Apply decoding, spelling, and vocabulary strategies.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EECBA-D913-6A81-A9DA-8ABEAC01EDF3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4EB4E-9FD6-4A65-D8DB-71F0A4F4BDA9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3 ELA teacher guide
• Decoding, spelling, and phonics worksheets
• Writing 3 and comprehension materials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B211B-80A1-2E1B-8270-0DEC71DFFAE7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FFAB01-6FDB-D5EE-F057-B48B58733370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796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78A8B-A8D8-FCDA-C443-0D9486737B6B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3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C59EC-637A-91A7-7913-02342D2CDB75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Polygons on the coordinate plane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FC96A6-6CAB-2109-24C6-E562C4B7FF8A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4D518-88A7-55D1-5B4E-E7164094F11C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E3771-0483-0417-FC9D-92E74F465A4D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Plot vertices, draw polygons, and compose rectangles to reason about triangle area.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1EE75-83FD-8DB1-4120-C1953AA712AE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C9F83-0335-666B-6D45-A92F782EE121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coordinate • vertex • polygon • rectangle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E9194-FF44-5CC6-4441-25B8C4BCE548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45BEF-3230-0DDF-8594-4B972DE98C40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Plot ordered pairs on a coordinate plane.
• Connect vertices to create polygons.
• Use composed rectangles to find triangle areas.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F0CD9-C5C5-0BB1-A7D8-EC5C93ED1309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D93E3B-B2A1-AA9B-7F2A-04A9DCAAFBCB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3 Math teacher guide
• Coordinate plane worksheets
• Drawing Polygons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2B84A-BD93-6457-8D1E-B2916CA7B15E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7C531-BBCB-CAF3-6270-D5A3C675343A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6989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27264-0A0D-8194-9005-312408440847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3  /  SOCIAL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367B7-1766-6774-B0B2-24FBE60FFB07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How voting works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0A2722-A49A-9301-E2AD-E811B27B7D44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9E20A-0AD6-1D11-1BBB-E3E10F9262C3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C59D5-646E-52F7-8F34-B9349292B716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Practice the steps used to vote for a school or community leader.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B2FBD-45A8-0B63-BA46-6926D9527F9E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494E9-ECA2-09BA-9D2C-72939439B4A2}"/>
              </a:ext>
            </a:extLst>
          </p:cNvPr>
          <p:cNvSpPr txBox="1"/>
          <p:nvPr/>
        </p:nvSpPr>
        <p:spPr>
          <a:xfrm>
            <a:off x="787400" y="46355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candidate • ballot • vote • 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4DFDC-04B2-2FBA-30B7-07EAF3BCE05A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876C6B-A483-EAD3-EC94-D2E3006F1DC8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Identify the purpose of an election.
• Sequence the steps in casting a vote.
• Participate in a supported classroom voting activity.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B268F-8013-CF66-7A4A-618CD16459C5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140C2-A877-4C55-2E77-BBE311DBBC88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Social Studies Week 3 guide
• How to Vote vocabulary cards
• Paper ballot activity materials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BB874-1085-2AEC-BFDD-2290FCF1771E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D683B-662C-74B6-4E50-51FC7557268B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9921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5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B08978-4DA8-CACB-A374-8CC3AF18B4D9}"/>
              </a:ext>
            </a:extLst>
          </p:cNvPr>
          <p:cNvSpPr txBox="1"/>
          <p:nvPr/>
        </p:nvSpPr>
        <p:spPr>
          <a:xfrm>
            <a:off x="660400" y="711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53B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25612-FC02-DA62-216C-9197EA5A6581}"/>
              </a:ext>
            </a:extLst>
          </p:cNvPr>
          <p:cNvSpPr txBox="1"/>
          <p:nvPr/>
        </p:nvSpPr>
        <p:spPr>
          <a:xfrm>
            <a:off x="660400" y="1841500"/>
            <a:ext cx="10160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 panose="020B0004020202020204" pitchFamily="34" charset="0"/>
              </a:rPr>
              <a:t>Synthesize the message and demonstrate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2A76B-0F0D-1D10-1404-D071D12682E0}"/>
              </a:ext>
            </a:extLst>
          </p:cNvPr>
          <p:cNvSpPr txBox="1"/>
          <p:nvPr/>
        </p:nvSpPr>
        <p:spPr>
          <a:xfrm>
            <a:off x="660400" y="3683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ELA  •  Math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A4AA1-4189-CBF4-3D07-9CB50F1AEEAA}"/>
              </a:ext>
            </a:extLst>
          </p:cNvPr>
          <p:cNvSpPr txBox="1"/>
          <p:nvPr/>
        </p:nvSpPr>
        <p:spPr>
          <a:xfrm>
            <a:off x="660400" y="5143500"/>
            <a:ext cx="1041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18253B"/>
                </a:solidFill>
                <a:latin typeface="Aptos" panose="020B0004020202020204" pitchFamily="34" charset="0"/>
              </a:rPr>
              <a:t>The final week connects the impact of Malala with polished writing and coordinate reasoning.</a:t>
            </a:r>
          </a:p>
        </p:txBody>
      </p:sp>
    </p:spTree>
    <p:extLst>
      <p:ext uri="{BB962C8B-B14F-4D97-AF65-F5344CB8AC3E}">
        <p14:creationId xmlns:p14="http://schemas.microsoft.com/office/powerpoint/2010/main" val="347178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25148-C030-CFB5-853D-7F437DC171C2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4  /  ELA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D9564-1533-A272-4004-17DBACB5B16C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Building ideas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2B62DC-1BA1-6BC6-6C81-B88B5F94A64E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66123-7585-41EF-2B52-828916887085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28C62-9AAB-C3DC-AC62-B0EAB7F8AEC9}"/>
              </a:ext>
            </a:extLst>
          </p:cNvPr>
          <p:cNvSpPr txBox="1"/>
          <p:nvPr/>
        </p:nvSpPr>
        <p:spPr>
          <a:xfrm>
            <a:off x="787400" y="2603500"/>
            <a:ext cx="2794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Synthesize story events, vocabulary, and evidence into a completed response.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E8317-A04C-2DBF-FDAA-1CFAB379E01D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30D2D-226D-45C6-C783-DB5335F5EAB7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theme • point of view • evidence • revise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CCF130-9E38-14D0-993B-8234C7A0ACD7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A6297-F9FE-CDAD-C7F8-653757D4DF39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Explain the events that contribute most to the plot or theme.
• Plan, revise, and complete a writing product.
• Use grade-appropriate spelling and text evidence.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2D3F6-670A-0297-2F73-FEE972E53DD0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97807-CCB2-A46B-B649-FD0B3B3964B8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4 ELA teacher guide
• Vocabulary and story grammar cards
• Writing 4 worksheet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77596-989E-97B3-2427-1F3A1404ABF2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79B00-BA34-5D10-9A33-55BF3BDC276E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70326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29F418-2AB1-0A9C-E32D-EB8CED20C3EB}"/>
              </a:ext>
            </a:extLst>
          </p:cNvPr>
          <p:cNvSpPr txBox="1"/>
          <p:nvPr/>
        </p:nvSpPr>
        <p:spPr>
          <a:xfrm>
            <a:off x="533400" y="355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WEEK 4  /  MATH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492EA-9062-453E-3CCE-65E1F7C6EFF7}"/>
              </a:ext>
            </a:extLst>
          </p:cNvPr>
          <p:cNvSpPr txBox="1"/>
          <p:nvPr/>
        </p:nvSpPr>
        <p:spPr>
          <a:xfrm>
            <a:off x="533400" y="825500"/>
            <a:ext cx="1092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E293B"/>
                </a:solidFill>
                <a:latin typeface="Aptos" panose="020B0004020202020204" pitchFamily="34" charset="0"/>
              </a:rPr>
              <a:t>Side lengths on a coordinate plane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C60C75-B252-459D-3D5E-458E234DA272}"/>
              </a:ext>
            </a:extLst>
          </p:cNvPr>
          <p:cNvSpPr/>
          <p:nvPr/>
        </p:nvSpPr>
        <p:spPr>
          <a:xfrm>
            <a:off x="533400" y="1803400"/>
            <a:ext cx="3429000" cy="3810000"/>
          </a:xfrm>
          <a:prstGeom prst="roundRect">
            <a:avLst/>
          </a:prstGeom>
          <a:solidFill>
            <a:srgbClr val="F2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861CF-6E37-A2DE-343E-A808A6D56DB3}"/>
              </a:ext>
            </a:extLst>
          </p:cNvPr>
          <p:cNvSpPr txBox="1"/>
          <p:nvPr/>
        </p:nvSpPr>
        <p:spPr>
          <a:xfrm>
            <a:off x="787400" y="2095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CA5B4A"/>
                </a:solidFill>
                <a:latin typeface="Aptos" panose="020B0004020202020204" pitchFamily="34" charset="0"/>
              </a:rPr>
              <a:t>INSTRUCTIONAL FOCUS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D3ED9-D645-159B-B7DD-DD0427428D6A}"/>
              </a:ext>
            </a:extLst>
          </p:cNvPr>
          <p:cNvSpPr txBox="1"/>
          <p:nvPr/>
        </p:nvSpPr>
        <p:spPr>
          <a:xfrm>
            <a:off x="787400" y="2603500"/>
            <a:ext cx="279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coordinates to find horizontal and vertical side lengths of polygons.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C21E4-1C2B-B8BB-39D6-810392C1A00E}"/>
              </a:ext>
            </a:extLst>
          </p:cNvPr>
          <p:cNvSpPr txBox="1"/>
          <p:nvPr/>
        </p:nvSpPr>
        <p:spPr>
          <a:xfrm>
            <a:off x="787400" y="42418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5C697A"/>
                </a:solidFill>
                <a:latin typeface="Aptos" panose="020B0004020202020204" pitchFamily="34" charset="0"/>
              </a:rPr>
              <a:t>AAC / CORE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A6ACA-9001-4061-8888-C10B37B23E3A}"/>
              </a:ext>
            </a:extLst>
          </p:cNvPr>
          <p:cNvSpPr txBox="1"/>
          <p:nvPr/>
        </p:nvSpPr>
        <p:spPr>
          <a:xfrm>
            <a:off x="787400" y="4635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7A"/>
                </a:solidFill>
                <a:latin typeface="Aptos" panose="020B0004020202020204" pitchFamily="34" charset="0"/>
              </a:rPr>
              <a:t>polygon • side length • coordinate plane •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80503-7204-1469-5D66-8B133B61F2C8}"/>
              </a:ext>
            </a:extLst>
          </p:cNvPr>
          <p:cNvSpPr txBox="1"/>
          <p:nvPr/>
        </p:nvSpPr>
        <p:spPr>
          <a:xfrm>
            <a:off x="4445000" y="19177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Students will…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2499D-1C24-E4A3-D55D-FB7DAA6A3A6B}"/>
              </a:ext>
            </a:extLst>
          </p:cNvPr>
          <p:cNvSpPr txBox="1"/>
          <p:nvPr/>
        </p:nvSpPr>
        <p:spPr>
          <a:xfrm>
            <a:off x="4445000" y="2463800"/>
            <a:ext cx="6858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C697A"/>
                </a:solidFill>
                <a:latin typeface="Aptos" panose="020B0004020202020204" pitchFamily="34" charset="0"/>
              </a:rPr>
              <a:t>• Locate polygon vertices in Quadrant I or across axes.
• Count coordinate spaces to find side length.
• Solve supported coordinate-geometry problems.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AB714-F85C-B02A-0B0F-6784A43D43D7}"/>
              </a:ext>
            </a:extLst>
          </p:cNvPr>
          <p:cNvSpPr txBox="1"/>
          <p:nvPr/>
        </p:nvSpPr>
        <p:spPr>
          <a:xfrm>
            <a:off x="44450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E293B"/>
                </a:solidFill>
                <a:latin typeface="Aptos" panose="020B0004020202020204" pitchFamily="34" charset="0"/>
              </a:rPr>
              <a:t>Use these source materials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F4C747-571A-1910-670A-9BBC2178FA60}"/>
              </a:ext>
            </a:extLst>
          </p:cNvPr>
          <p:cNvSpPr txBox="1"/>
          <p:nvPr/>
        </p:nvSpPr>
        <p:spPr>
          <a:xfrm>
            <a:off x="4445000" y="4660900"/>
            <a:ext cx="685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C697A"/>
                </a:solidFill>
                <a:latin typeface="Aptos" panose="020B0004020202020204" pitchFamily="34" charset="0"/>
              </a:rPr>
              <a:t>• Week 4 Math teacher guide
• Side Lengths of Polygons worksheets
• Coordinate plane worksheets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F4249D-C60D-0920-B6DF-5343FEE29AC8}"/>
              </a:ext>
            </a:extLst>
          </p:cNvPr>
          <p:cNvSpPr txBox="1"/>
          <p:nvPr/>
        </p:nvSpPr>
        <p:spPr>
          <a:xfrm>
            <a:off x="533400" y="6426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5C697A"/>
                </a:solidFill>
                <a:latin typeface="Aptos" panose="020B0004020202020204" pitchFamily="34" charset="0"/>
              </a:rPr>
              <a:t>TeachTown enCORE • Malala • Unit 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9B6B6-0B8D-BC24-FAE0-3C26C54DB7F7}"/>
              </a:ext>
            </a:extLst>
          </p:cNvPr>
          <p:cNvSpPr txBox="1"/>
          <p:nvPr/>
        </p:nvSpPr>
        <p:spPr>
          <a:xfrm>
            <a:off x="11430000" y="64262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5C697A"/>
                </a:solidFill>
                <a:latin typeface="Aptos" panose="020B00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1720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Microsoft Office PowerPoint</Application>
  <PresentationFormat>Custom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2026-07-11T17:48:49Z</dcterms:created>
  <dcterms:modified xsi:type="dcterms:W3CDTF">2026-07-11T17:48:49Z</dcterms:modified>
</cp:coreProperties>
</file>