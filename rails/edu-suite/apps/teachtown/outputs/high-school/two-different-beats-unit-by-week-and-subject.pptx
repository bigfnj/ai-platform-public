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38FC-0224-D702-BDA4-61AB2AF6F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A1A1E-1750-7A30-C4DD-1AC20E102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8396A-20D4-3B17-47CB-9CA42027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AB78D-8BAE-E605-7E9A-79F9FEB9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159E-0868-451C-5BA3-4162F8C3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7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1C7E-1A7C-5C61-CD98-A40AA7D1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CBC9-55B3-9916-3DCD-10FD27DC6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95C0E-5452-06CF-FDE7-DD2AD05F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4CB58-8F09-B83E-2F1D-05B9713FB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EC1B8-486E-E540-330A-9BC65FB4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3C79-8F1B-3200-9726-8276B8A6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05E39-DA14-E5AC-5DD0-6EFB61098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1E293-E341-3C3C-B930-1016B162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4C3EB-565E-1A05-6B7B-6FBE8FD3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98811-27CB-C7E2-848C-536BF3F7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4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6AFF-FDDE-DFBF-ED7D-6FCA0EE4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7306D-4699-F6B9-46AD-8D09B3F2F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0BB79-B607-CCA8-C200-7050EB0C2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AE59B-D769-4636-98DD-52C59E67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15516-67A0-AF79-D0CA-909E4EE6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9BFBC-3585-89E1-63B7-736FE392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6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C0B0-42EE-2E2C-B1DA-B1A9FEEB0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ED2D6-B0D8-8F89-7FBD-A16675381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2DFEA-1FD6-6670-1835-C735DE42B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733BD-6D02-F12F-4C22-64034FE13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46140-117B-2C19-4AC9-126D8BB6F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B1FC9-21F8-9553-F384-56B7B969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D2B15-3C52-0DAC-88C2-D2E1DDA1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D48B9E-7C08-0489-074F-7A9501F7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374-4B91-59BC-D61B-EF6FEDE8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E52EA-308F-BF20-5E6C-B513DD8D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0146A-D09D-B8F3-D739-2D45601F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1437C-CA27-CE43-D2EF-242ACEDA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2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1AABD-B92A-8C20-256F-4060C158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63420-688B-C48D-0D1E-32B74BBF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CE953-2543-2F1E-3DE6-B267FCDA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2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786D-E876-7A83-C411-310123D9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707DB-9FEC-BB3C-4038-8D29D2BD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E85DC-287C-C3E4-8A88-EAE648882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38CC-F4BC-FB28-17BD-88F5CD98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11036-8293-090B-2230-EE152A29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94A64-8185-514C-6047-B59265DE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9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8001-2282-48F5-C3C8-1AE441B9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144C22-D727-074A-5DCC-F86B058C1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7B604-798A-D27D-BA79-DE5080C85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F1AB6-98E4-90E7-581E-906DD0CA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1AA53-7BC0-C28A-93D7-BBF37B29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3F6BC-3E81-129D-F8B9-90A63862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51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8707-8456-A209-582D-1998F1BF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ED08F-0139-A05F-E518-EFBE5DFF3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3122F-0C5E-432B-CA87-3D5BD2D0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967AF-3B77-50A6-9C75-66EF7BCE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1C60B-42C9-B9A8-12B7-A52011D3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15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449B3-002D-D4F2-D4D7-F3359654D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9CBC5-FB16-BF01-68DD-01268FE7B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06CC1-EC7E-0F03-647F-0A7DBF05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7C15B-9279-03E2-A738-877D800B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90197-2527-DE1D-54DD-97094DBD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7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DFD584-C2F0-8C13-EDC1-B14719AB4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58696-C4B9-35CA-9120-9FA948DF2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86193-8568-7C7F-9827-1A4367C46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44E96-558B-4B0A-AA45-5891B8BF93B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4BE48-D2D4-D700-22C8-AF2EFC5FD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4B8B8-878E-02BC-953C-B33C9188E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EFE57-BFC4-4DD6-AC7E-AAA05D6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9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1595E-C5EA-1A43-AEC1-652E7FAA7231}"/>
              </a:ext>
            </a:extLst>
          </p:cNvPr>
          <p:cNvSpPr/>
          <p:nvPr/>
        </p:nvSpPr>
        <p:spPr>
          <a:xfrm>
            <a:off x="635000" y="635000"/>
            <a:ext cx="203200" cy="3810000"/>
          </a:xfrm>
          <a:prstGeom prst="rect">
            <a:avLst/>
          </a:prstGeom>
          <a:solidFill>
            <a:srgbClr val="358A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25867-1081-B94E-6161-AFF21E52830A}"/>
              </a:ext>
            </a:extLst>
          </p:cNvPr>
          <p:cNvSpPr txBox="1"/>
          <p:nvPr/>
        </p:nvSpPr>
        <p:spPr>
          <a:xfrm>
            <a:off x="1168400" y="8890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58A85"/>
                </a:solidFill>
                <a:latin typeface="Aptos" panose="020B0004020202020204" pitchFamily="34" charset="0"/>
              </a:rPr>
              <a:t>TEACHTOWN ENCORE • FOUR-WEEK UNIT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36A61-DC1B-97F4-F350-E8B5D5334FE1}"/>
              </a:ext>
            </a:extLst>
          </p:cNvPr>
          <p:cNvSpPr txBox="1"/>
          <p:nvPr/>
        </p:nvSpPr>
        <p:spPr>
          <a:xfrm>
            <a:off x="1168400" y="1841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Aptos" panose="020B0004020202020204" pitchFamily="34" charset="0"/>
              </a:rPr>
              <a:t>Two Different Beats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423B0-EB72-74D3-3309-3A52787A075A}"/>
              </a:ext>
            </a:extLst>
          </p:cNvPr>
          <p:cNvSpPr txBox="1"/>
          <p:nvPr/>
        </p:nvSpPr>
        <p:spPr>
          <a:xfrm>
            <a:off x="1168400" y="3429000"/>
            <a:ext cx="889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D2DCE7"/>
                </a:solidFill>
                <a:latin typeface="Aptos" panose="020B0004020202020204" pitchFamily="34" charset="0"/>
              </a:rPr>
              <a:t>Music, influence, identity, and interconnected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8AABC-0192-D36E-6778-4BC87C736021}"/>
              </a:ext>
            </a:extLst>
          </p:cNvPr>
          <p:cNvSpPr txBox="1"/>
          <p:nvPr/>
        </p:nvSpPr>
        <p:spPr>
          <a:xfrm>
            <a:off x="1168400" y="55880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AABACC"/>
                </a:solidFill>
                <a:latin typeface="Aptos" panose="020B0004020202020204" pitchFamily="34" charset="0"/>
              </a:rPr>
              <a:t>Teacher planning deck • Organized by week and subject</a:t>
            </a:r>
          </a:p>
        </p:txBody>
      </p:sp>
    </p:spTree>
    <p:extLst>
      <p:ext uri="{BB962C8B-B14F-4D97-AF65-F5344CB8AC3E}">
        <p14:creationId xmlns:p14="http://schemas.microsoft.com/office/powerpoint/2010/main" val="77264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86BF3D-0B84-DB84-9842-6A8C0DEBCD96}"/>
              </a:ext>
            </a:extLst>
          </p:cNvPr>
          <p:cNvSpPr txBox="1"/>
          <p:nvPr/>
        </p:nvSpPr>
        <p:spPr>
          <a:xfrm>
            <a:off x="533400" y="431800"/>
            <a:ext cx="1092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E293B"/>
                </a:solidFill>
                <a:latin typeface="Aptos" panose="020B0004020202020204" pitchFamily="34" charset="0"/>
              </a:rPr>
              <a:t>The unit builds one connected learning arc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475B2-9360-9FBF-D4CD-71ECDAEE45FD}"/>
              </a:ext>
            </a:extLst>
          </p:cNvPr>
          <p:cNvSpPr txBox="1"/>
          <p:nvPr/>
        </p:nvSpPr>
        <p:spPr>
          <a:xfrm>
            <a:off x="533400" y="11684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97A"/>
                </a:solidFill>
                <a:latin typeface="Aptos" panose="020B0004020202020204" pitchFamily="34" charset="0"/>
              </a:rPr>
              <a:t>Each week advances the anchor text while math, science, and social studies develop parallel concepts.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06083E-180F-CCC0-AFF2-2A4BE7F4EF03}"/>
              </a:ext>
            </a:extLst>
          </p:cNvPr>
          <p:cNvSpPr/>
          <p:nvPr/>
        </p:nvSpPr>
        <p:spPr>
          <a:xfrm>
            <a:off x="533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9CABD-B5BA-B726-4E0C-C1566045BD4F}"/>
              </a:ext>
            </a:extLst>
          </p:cNvPr>
          <p:cNvSpPr txBox="1"/>
          <p:nvPr/>
        </p:nvSpPr>
        <p:spPr>
          <a:xfrm>
            <a:off x="762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58A85"/>
                </a:solidFill>
                <a:latin typeface="Aptos" panose="020B0004020202020204" pitchFamily="34" charset="0"/>
              </a:rPr>
              <a:t>WEEK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4E718-E823-6665-85FF-5B552801180A}"/>
              </a:ext>
            </a:extLst>
          </p:cNvPr>
          <p:cNvSpPr txBox="1"/>
          <p:nvPr/>
        </p:nvSpPr>
        <p:spPr>
          <a:xfrm>
            <a:off x="762000" y="2921000"/>
            <a:ext cx="20828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Introduce the people, language, and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0C67D-03FE-CCCB-50E5-CC798804FC2F}"/>
              </a:ext>
            </a:extLst>
          </p:cNvPr>
          <p:cNvSpPr txBox="1"/>
          <p:nvPr/>
        </p:nvSpPr>
        <p:spPr>
          <a:xfrm>
            <a:off x="762000" y="4191000"/>
            <a:ext cx="20828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
Science
Social Studies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B23B7E-DEA5-D58B-A836-D211CFE2C3A7}"/>
              </a:ext>
            </a:extLst>
          </p:cNvPr>
          <p:cNvSpPr/>
          <p:nvPr/>
        </p:nvSpPr>
        <p:spPr>
          <a:xfrm>
            <a:off x="3327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44BC9-16BA-0C78-6125-BD222937E971}"/>
              </a:ext>
            </a:extLst>
          </p:cNvPr>
          <p:cNvSpPr txBox="1"/>
          <p:nvPr/>
        </p:nvSpPr>
        <p:spPr>
          <a:xfrm>
            <a:off x="3556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58A85"/>
                </a:solidFill>
                <a:latin typeface="Aptos" panose="020B0004020202020204" pitchFamily="34" charset="0"/>
              </a:rPr>
              <a:t>WEEK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BA25A-888D-F864-9A7A-BB93DC58BF85}"/>
              </a:ext>
            </a:extLst>
          </p:cNvPr>
          <p:cNvSpPr txBox="1"/>
          <p:nvPr/>
        </p:nvSpPr>
        <p:spPr>
          <a:xfrm>
            <a:off x="3556000" y="2921000"/>
            <a:ext cx="20828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Develop evidence and relationships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22CF2A-4966-8036-98EB-AC8AF8C727A6}"/>
              </a:ext>
            </a:extLst>
          </p:cNvPr>
          <p:cNvSpPr txBox="1"/>
          <p:nvPr/>
        </p:nvSpPr>
        <p:spPr>
          <a:xfrm>
            <a:off x="3556000" y="4191000"/>
            <a:ext cx="20828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
Science
Social Studies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39F6E6-2397-7099-9701-63DFE9BB72CD}"/>
              </a:ext>
            </a:extLst>
          </p:cNvPr>
          <p:cNvSpPr/>
          <p:nvPr/>
        </p:nvSpPr>
        <p:spPr>
          <a:xfrm>
            <a:off x="6121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842EB-A26B-9E32-3D2B-E7E03B9CF3FD}"/>
              </a:ext>
            </a:extLst>
          </p:cNvPr>
          <p:cNvSpPr txBox="1"/>
          <p:nvPr/>
        </p:nvSpPr>
        <p:spPr>
          <a:xfrm>
            <a:off x="6350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58A85"/>
                </a:solidFill>
                <a:latin typeface="Aptos" panose="020B0004020202020204" pitchFamily="34" charset="0"/>
              </a:rPr>
              <a:t>WEEK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5E4D9-5042-F2AA-27C0-F0BB9A6CE1CA}"/>
              </a:ext>
            </a:extLst>
          </p:cNvPr>
          <p:cNvSpPr txBox="1"/>
          <p:nvPr/>
        </p:nvSpPr>
        <p:spPr>
          <a:xfrm>
            <a:off x="6350000" y="2921000"/>
            <a:ext cx="20828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Compare pathways to influence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04BFFA-3C7D-59D1-95FB-41FD167C5F62}"/>
              </a:ext>
            </a:extLst>
          </p:cNvPr>
          <p:cNvSpPr txBox="1"/>
          <p:nvPr/>
        </p:nvSpPr>
        <p:spPr>
          <a:xfrm>
            <a:off x="6350000" y="4191000"/>
            <a:ext cx="20828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
Social Studies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1C44EB-4DCD-8F7C-5C4B-9EC905CA1BA8}"/>
              </a:ext>
            </a:extLst>
          </p:cNvPr>
          <p:cNvSpPr/>
          <p:nvPr/>
        </p:nvSpPr>
        <p:spPr>
          <a:xfrm>
            <a:off x="8915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406852-0F1E-1DCC-5037-31D98B2F5A04}"/>
              </a:ext>
            </a:extLst>
          </p:cNvPr>
          <p:cNvSpPr txBox="1"/>
          <p:nvPr/>
        </p:nvSpPr>
        <p:spPr>
          <a:xfrm>
            <a:off x="9144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58A85"/>
                </a:solidFill>
                <a:latin typeface="Aptos" panose="020B0004020202020204" pitchFamily="34" charset="0"/>
              </a:rPr>
              <a:t>WEEK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43103A-3AD0-5D87-A757-8E9EB9DCC81C}"/>
              </a:ext>
            </a:extLst>
          </p:cNvPr>
          <p:cNvSpPr txBox="1"/>
          <p:nvPr/>
        </p:nvSpPr>
        <p:spPr>
          <a:xfrm>
            <a:off x="9144000" y="2921000"/>
            <a:ext cx="20828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Synthesize meaning and apply advanced concepts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289D40-73C8-6BE4-99FC-E9A2484F8863}"/>
              </a:ext>
            </a:extLst>
          </p:cNvPr>
          <p:cNvSpPr txBox="1"/>
          <p:nvPr/>
        </p:nvSpPr>
        <p:spPr>
          <a:xfrm>
            <a:off x="9144000" y="4191000"/>
            <a:ext cx="2082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3C54D5-D9DA-9160-5D17-B358F70B8E00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C5C20B-44F4-DCA6-E740-1D578EB6A85F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402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8A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5A9179-821B-1C58-F97A-DA6734278603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47B5F-6242-5D93-1E95-05EABF0787CD}"/>
              </a:ext>
            </a:extLst>
          </p:cNvPr>
          <p:cNvSpPr txBox="1"/>
          <p:nvPr/>
        </p:nvSpPr>
        <p:spPr>
          <a:xfrm>
            <a:off x="660400" y="1841500"/>
            <a:ext cx="10160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Introduce the people, language, and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444A4-7BB9-5377-330F-3D962B255011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  •  Science  •  Social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A101D-7877-CA0A-1B7F-FC7824457BBA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Students meet the musicians and establish foundational concepts in geometry, biology, and nationalism.</a:t>
            </a:r>
          </a:p>
        </p:txBody>
      </p:sp>
    </p:spTree>
    <p:extLst>
      <p:ext uri="{BB962C8B-B14F-4D97-AF65-F5344CB8AC3E}">
        <p14:creationId xmlns:p14="http://schemas.microsoft.com/office/powerpoint/2010/main" val="146504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CE2C2D-C39B-5179-8771-9F3244364245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1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625DE-3B2F-60DD-CEDB-5061850D219E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Chapter 1: Music has influence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F842B1-8750-E693-B8D4-1CC66F56544F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1C2C2-3687-8391-E341-8F7AE129607F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FDEFA-F0CD-BB70-4ED0-85908AAB9F65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context clues and key details to understand music, musicians, and influence.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942BB-CB16-8DC0-F4C8-A49733825D48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80F03-AF7C-0A02-7B25-54D336CBF837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instrument • musician • influence • orally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A389C-CAF8-5E21-638F-FE2284193237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CCB2E-EE7A-FC46-14AA-53C4866688A1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Use context to determine word meaning.
• Identify chapter details and domain vocabulary.
• Begin a research-supported writing response.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587D0-0A32-4B6C-A9F7-34536B7B4FDB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BAD699-E8FC-8B42-80C9-DF5FCABAA861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1 ELA teacher guide
• Context Clues and Reading Comp PDFs
• Two Different Beats adapted book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83689-7CEF-12EC-C17B-2E27CEA103E7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04769-7142-820B-0D7A-D7A9004B9D20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41059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190C4-2D03-317A-0560-95A12B05FEDB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1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3FF3F-6C68-FF0A-76FF-F69FF91B94E6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Pythagorean theorem in context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AD2DEF-9286-F7D6-F071-F89F7CA46A9D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9CE09-5205-CFDC-0F02-2D685D6A86FA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2F410-494E-317A-4BEF-4EB92501F1F2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Apply a² + b² = c² to right triangles and real-world distances.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D2684-9203-E7B5-CD61-4383952653F8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BB44E-ECD1-7AC2-78E2-DFC2412C3EFC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right triangle • hypotenuse • square root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1341E-EE39-D359-2C46-802C759E1EED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D2C51-6045-D1CD-5C07-1B65AB00EDE9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parts of a right triangle.
• Substitute side lengths into the theorem.
• Solve supported distance problems.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13EFD-CBE3-8DDE-1230-DEB4478F74E5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8B4F9-B117-7E69-C8F7-F20CBC525618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Math Week 1 teacher guide
• Math warm-up
• Pythagorean theorem review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49B3B4-CB29-1D2A-F11E-A8D7F36F0250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F3850-F71F-58E2-80CC-327C60BCDC0E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9086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986BFF-7AF7-5C94-9162-5DB818F95830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1  /  SCIENCE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D16C2-BD7B-AA2E-A57C-7A7C3943A137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Macromolecules support life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418D6C-C520-2CF2-8D32-48155DDC8875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7AC90-299B-C232-0CBC-328156073D94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E370D-A4FD-2568-0C33-B0B2517EE910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Introduce carbohydrates, fats, proteins, and nucleic acids in food.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FB6F2-C5FC-189E-DA6B-CE1B4938A0A7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865F4-729C-650F-32A4-E4B0687B0523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balanced diet • protein • carbohydrate • fat • nucleic acid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C872F-5BBE-DF1A-E325-D3C6D59EE927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56653-DBEE-DBF6-C4FD-6611A2D6A28E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four major macromolecule groups.
• Match nutrients with familiar foods.
• Explain that organisms need food and water.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EFB003-E1B0-DEF7-EACA-FC36F6EC05FB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2BDF0-C433-BD65-55A2-B077D7F99306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Science Week 1 teacher guide
• Food and Water companion text
• Definition, picture, and matching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19333-490B-E8EE-8781-E2A04AD124FA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9BB7C4-EE9B-2D57-3FB2-234E90D46F2C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9996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C71C00-13EB-014A-9E3B-3486FE26D56A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1  /  SOCIAL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10513-8F36-39F5-07ED-2D18481B881D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Nationalism reshapes Europe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269B46-922B-553C-C739-5F28BD59B971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1A152-61C0-A8E4-96C4-5B27E6739E3B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67916-4279-45FE-611C-E324371FC776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Introduce nationalism and the movements that unified Italy and Germany.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74A55-4D9E-F187-2CEE-A7C1B939541F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E35C8-92E9-C30A-358A-DE2945D05E04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nationalism • Congress of Vienna • Italy • Germany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B00A55-4D85-7D3A-8234-F3A287325FBE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169D3-9899-A59D-0EFC-2DD07E8CF9B4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Define nationalism with examples.
• Locate key countries on a map.
• Recognize how unification strengthened national identity.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3B3AB-1A2D-FF6A-BE79-D07797745881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719E1-77B6-A6E5-B2DB-9E6A01B2F67E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Social Studies Week 1 guide
• Age of Imperialism companion text
• Vocabulary and Rise of Nationalism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759164-6585-FA5C-0C77-66DEB5BF0847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A072C5-A893-06EC-9A0B-A7F191F63B57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233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8A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39843-440F-47F2-1EB8-2256182BDBDA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994C2-FEC6-AB60-8006-66C0C4CAD334}"/>
              </a:ext>
            </a:extLst>
          </p:cNvPr>
          <p:cNvSpPr txBox="1"/>
          <p:nvPr/>
        </p:nvSpPr>
        <p:spPr>
          <a:xfrm>
            <a:off x="660400" y="18415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Develop evidence and relationships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423BB-8FB4-4573-E1AE-3F5C4274B799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  •  Science  •  Social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CB76C-5C47-D6DF-8AF2-C939343BC73E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Students move from introduction to evidence—across biography, geometry, nutrition, and European history.</a:t>
            </a:r>
          </a:p>
        </p:txBody>
      </p:sp>
    </p:spTree>
    <p:extLst>
      <p:ext uri="{BB962C8B-B14F-4D97-AF65-F5344CB8AC3E}">
        <p14:creationId xmlns:p14="http://schemas.microsoft.com/office/powerpoint/2010/main" val="273886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6D274-98D4-EDBA-BA68-5ADD7CE7FCB1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2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55CC3-CC6A-D652-B3C2-518CB11C0BEC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Chapter 2: George Harrison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1AC6CE-BF56-B92C-1548-DB7D409FC7C5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7C642-208A-3F5F-47DD-E144589FD990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583F4-C580-D2E9-CF6B-CA02EB49E346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Paraphrase, summarize, and support inferences with evidence.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BC00E-474F-5ABA-3958-FAA982A4CC25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CAFEB-4E47-ADDD-DD15-19FD52EAB48F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suffix • denotation • paraphrase • inference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0A492D-E215-2F59-E9E1-9705C53AD19A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5BFD4-63ED-A77F-98D1-11CF4869B2C1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Recall key events in the early life of George Harrison.
• Use two pieces of evidence to support an inference.
• Create an objective chapter summary.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316E8-683D-204C-F016-78186C9250AE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AB662-AA5F-EE2F-035B-A2CDAF26CA4B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2 ELA teacher guide
• Week 2 comprehension and reading PDFs
• Suffixes and comprehension-map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846D17-C81C-1933-0583-80ECDDEF552F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612BBA-71C0-8D6D-16AB-8F7F8369AC3D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2946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C2AF10-A0F1-6A41-F44C-A54C8901B2F1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2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479BD-94E6-AB67-6F5D-2C0A6CF92025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Triangle relationships and theorems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AEA04F-979F-CE5D-E92B-E7D85E7C7691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5CAA9-716C-5413-27EE-14A303B206EF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DA6E0-571A-BDB9-895C-F64EBA45970B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triangle relationships to solve mathematical and real-world problems.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8557B-BC64-2F24-B7B6-2DAAE02EE395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9C946-AA8B-A8E3-CA47-BD315B987CFA}"/>
              </a:ext>
            </a:extLst>
          </p:cNvPr>
          <p:cNvSpPr txBox="1"/>
          <p:nvPr/>
        </p:nvSpPr>
        <p:spPr>
          <a:xfrm>
            <a:off x="787400" y="46355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triangle • angle • congruent • divide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C40C0-3748-C2EF-2BD4-33579584D54F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7663D-2157-9719-570F-22913CF8BFE7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Recognize relevant triangle properties.
• Use given relationships to find unknown measures.
• Explain a solution using models or equations.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82CB8-5526-8D5D-4985-2257137055EC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C99B5-B9A4-9FCE-0A9C-56CC9EE343B6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Math Week 2 teacher guide
• Math warm-up
• Using Triangle Theorems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C6647-B45C-052D-B7A7-1F1BD543F99C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F0F921-1AF1-3ECB-1AF4-67FC9CCDF070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392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FB7E30-F192-AA7F-91F5-E3C26A83EE06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2  /  SCIENCE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7FDC9-04FA-92F3-273F-7710677B5E12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Macromolecules in everyday foods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3EB4A-7A65-23CE-8520-278D4C99A309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42542-61EA-10F0-F2D2-F940D3408E4A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5DE82-AD84-B7AA-5851-4D9BFFE96950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Read, sort, and explain how nutrients contribute to a balanced diet.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89F13-C9C9-4F53-52A4-6548063ACFC1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EDBA9-F3AD-6AA9-4080-7390AD4746D0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carbohydrate • saturated fat • unsaturated fat • protein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36777-E65F-4F08-D073-085F14CF3BCE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49CF4-D358-8D92-47FB-0C93835F8411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Sort foods by macromolecule type.
• Answer questions using the companion text.
• Connect food choices to a balanced diet.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7D568-5C60-69BF-BE1C-D483D6215E07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96009-745A-10A0-E952-B2F942F53CA0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Science Week 2 teacher guide
• Food and Water companion text
• Molecules in Food sorting worksheet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15E182-38E2-530D-E395-61750DFBDB22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987AD0-4F48-FF77-2367-97869042A6A2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5966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C6E45A-F8CD-F5F4-462C-0AE5C5C74F92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2  /  SOCIAL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6EC9D0-8350-61F1-636E-6BC5AE7A67F6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Italy and Germany unify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2AE9D4-24AB-F286-96D8-CDBC98146BEA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16BF0-E994-84E0-9EAC-B32B2875CC3D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3CFDC-DEC9-659C-CA92-9FD3A129966F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Examine leaders, revolutions, and events that created unified nations.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05EA9-5F85-146F-2E80-0DF51F89F4A0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1B32CE-CE17-3EE0-106A-D2CD1A6FBD4F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unification • Garibaldi • Bismarck • confederation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EF4C0-B7E4-3024-4E1E-25007B770A60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E2386-7C5F-E2A2-E3BF-A9E49E465578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Recognize major figures in unification.
• Sequence key political changes.
• Explain how unification encouraged national pride.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C3413E-67FD-1443-DBF8-A2A29002C12B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5981B-5065-A744-B127-B051F310A2EF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Social Studies Week 2 guide
• Age of Imperialism companion text
• Unification in Italy and Germany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7A0B80-2F02-578A-72B1-A4EC60B6E8FB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B86FCE-BE92-98E7-B7C9-359A228114BC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34043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8A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11A0C-0713-2950-F2F3-A68142FCD690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D7D82-07E4-E464-5043-98B45CF24BD8}"/>
              </a:ext>
            </a:extLst>
          </p:cNvPr>
          <p:cNvSpPr txBox="1"/>
          <p:nvPr/>
        </p:nvSpPr>
        <p:spPr>
          <a:xfrm>
            <a:off x="660400" y="18415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Compare pathways to influence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A5E0E-8A0D-9C6C-C4F9-4AECD0C25632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  •  Social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45D13-6BD1-172F-79E5-BFAD195AC0F6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The unit broadens from individual musicians to wider patterns in language, shape, and global power.</a:t>
            </a:r>
          </a:p>
        </p:txBody>
      </p:sp>
    </p:spTree>
    <p:extLst>
      <p:ext uri="{BB962C8B-B14F-4D97-AF65-F5344CB8AC3E}">
        <p14:creationId xmlns:p14="http://schemas.microsoft.com/office/powerpoint/2010/main" val="6276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04A60-12BF-82D1-D557-D9DEA2017C92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3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7CBC5-4B7B-724F-0840-9F6E0FD55F69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Chapter 3: Yo-Yo Ma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AFEB86-3F7A-65E2-EC2C-BE22A108BFC0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88C8-8D74-E9AC-9FBF-B7D7FCDD74E2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53B31-A9A9-AF98-DE6F-F7172A197391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word origins, evidence, and structured reporting to explain musical influence.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08261-3E0D-93E4-D8F7-2A5F868CF8ED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047CE-9757-7BC6-A438-551839AE8615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etymology • derivation • evidence •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681C4-071A-5657-E943-A6EDD2536F8E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78EF0C-15C3-6F2D-F6E5-73AA41E9498C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Use etymology to determine meaning.
• Support inferences with strong evidence.
• Report information in a logical sequence.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E8403-398E-8BE3-1988-7AEB403C9ADE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672884-EBE3-1CFA-83FB-7C70F9A50A78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3 ELA teacher guide
• Suffix and reading-comprehension PDFs
• Comprehension Map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364B03-C2A4-4C68-1E5D-C4610D21C931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14156F-E048-A737-CEA2-C3E428F0ADF7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0148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4420F-AC70-501D-966C-CB94A5CF4734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3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00682-B874-A1A0-D1D8-7CAC904DD525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Parallelogram relationships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61AC50-CD1E-6DC8-561A-D309F087DE88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3C055-4080-6D90-4DDA-F66DA708296B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00BFC-3DDD-FC8E-4463-81756857BA62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Apply relationships and theorems about parallelograms.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34F6E-BBCF-3C33-BD5E-77EB9436CF91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D0B22-8676-B6CD-0CF0-346B28B05138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parallelogram • angle • degree • congruent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29CF3-1DBD-E36D-181D-B62651C78B0E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E35EE-5AF5-2355-E10F-9C1F6F2F4093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defining features of parallelograms.
• Use angle and side relationships to solve problems.
• Apply theorems in real-world or mathematical contexts.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CC6A7-0035-8147-C377-98F0D8343C23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367D5-A898-77A2-98A8-9C7A6030CB2E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Math Week 3 teacher guide
• Math warm-up
• Using Parallelogram Theorems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AFE93-DD50-7B68-2C9A-4DCC2DCFD251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ADC1CF-CE75-07F1-D80C-CB417F606FA5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41925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4CE7F-9764-FE0F-E153-9DBD9126059C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3  /  SOCIAL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C7F28-7755-6D0C-898A-C1ABBC4E5D36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Technology accelerates imperialism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9B97C2-AD39-7ED4-509F-A0B7AB38313D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A322D-06F5-4E54-D07A-E47B20C37D23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44695-24E0-4A3F-5842-EBA5CB88BD83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Analyze political, economic, and social motives for European imperialism.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62DB0-52F0-E829-6748-04D3F8FFAD4B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F4275-BF0D-0070-F2BF-A2686A77A6F3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imperialism • industrialization • colony • technology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6439A-D352-FBAB-C488-814175B145FC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77917-8AA7-121D-4B67-38DE73846B26}"/>
              </a:ext>
            </a:extLst>
          </p:cNvPr>
          <p:cNvSpPr txBox="1"/>
          <p:nvPr/>
        </p:nvSpPr>
        <p:spPr>
          <a:xfrm>
            <a:off x="4445000" y="2463800"/>
            <a:ext cx="6858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motivations for imperial expansion.
• Explain roles of transport, communication, medicine, and military technology.
• Describe major impacts of imperialism.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1A866-37FA-3DFC-2D3F-4E07F5283EC5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59D91-9F88-78FB-B72C-2A50C324E747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Social Studies Week 3 guide
• Age of Imperialism companion text
• Comprehension and matching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19EC1-4B02-9834-B4F5-61AF66F0CDC9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FA586-912A-9F04-6D48-B97056FC2373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54811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8A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0BD6A-598E-63FF-6C12-F0F0466C2E06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D704D-9E71-4477-5481-2A0FE4239EEC}"/>
              </a:ext>
            </a:extLst>
          </p:cNvPr>
          <p:cNvSpPr txBox="1"/>
          <p:nvPr/>
        </p:nvSpPr>
        <p:spPr>
          <a:xfrm>
            <a:off x="660400" y="1841500"/>
            <a:ext cx="10160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Synthesize meaning and apply advanced concepts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54D69-1F40-ACAE-A0C5-D14492CAF9E6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5238C-2ABA-AA66-9DCD-59F87AEAA5B5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Students close with figurative language and the geometry of trapezoids.</a:t>
            </a:r>
          </a:p>
        </p:txBody>
      </p:sp>
    </p:spTree>
    <p:extLst>
      <p:ext uri="{BB962C8B-B14F-4D97-AF65-F5344CB8AC3E}">
        <p14:creationId xmlns:p14="http://schemas.microsoft.com/office/powerpoint/2010/main" val="1307719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9924DE-A368-E1FD-4583-DD7BF100CA6D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4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18257-C356-36F8-A87A-787D1DE0FEAF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Chapter 4: Meaning beyond the literal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504860-CAA7-8DF2-8A27-3CD5AB9CD596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B970F-2C7D-F2F9-0C2F-9BA2BE7958AF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54049-F1BC-4990-6E7E-8CAEF8CE2FAA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Analyze figurative language, mood, tone, and author purpose.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FCFC4-7190-96BA-B2B5-783368A72A02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E4F49-A713-C6EF-521C-4C309C1B98AD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hyperbole • metaphor • simile • idiom • connotation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4BA3C-2D3B-D276-84E1-C19D6B2BA4B0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DCF8ED-A385-BF22-0527-5D7383D92B47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rhetorical appeals and figurative language.
• Explain how language creates mood or tone.
• Plan an organized response for a purpose and audience.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E6143-DF26-C8B4-B081-7AB703B27F5D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EA6CE-A4DB-B20A-B8CF-BBA7B9923835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4 ELA teacher guide
• Hyperbole and Reading Comp PDFs
• Writing 2 and comprehension-map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B8B7EB-2F12-AE22-335B-37D851093C82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873118-78AC-F6D6-8E65-F1317E23F807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547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A2BBB-452D-FC87-B311-1E316EEDFD34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WEEK 4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D4298-4DEC-0387-4AC9-6FEA644946BD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Trapezoid relationships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46567F-AAB1-F9FE-1540-36ABB7D62F2B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CE5C4-5F88-A268-87E9-9BC8EB73B3E4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8A85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2D453-2855-044D-C1CA-6E209301E407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relationships and theorems about trapezoids in mathematical and real-world problems.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907ED-F10C-30CD-A7C9-5A551A5E67F0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2A3F76-4139-6CEE-0248-B307B3232B96}"/>
              </a:ext>
            </a:extLst>
          </p:cNvPr>
          <p:cNvSpPr txBox="1"/>
          <p:nvPr/>
        </p:nvSpPr>
        <p:spPr>
          <a:xfrm>
            <a:off x="787400" y="46355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trapezoid • base • leg • length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0DB11-AC93-CFE3-B5C0-B490A79B012A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CB844-B748-3D11-1660-87D4B32F6EFC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bases and legs of a trapezoid.
• Use trapezoid properties to find unknown measures.
• Show reasoning with models, calculations, or supported responses.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DAEE4F-7CC3-8149-4A59-86B3D7D6AE91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EB7FD-8F7C-4B02-12E4-27B5D5622323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Math Week 4 teacher guide
• Math warm-up
• Using Trapezoid Theorems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5DC75-6243-30FF-541A-9B91329BF9F2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Two Different Beats • Units 74–75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DE3B9F-1827-4A2D-7505-527E51CBBA41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825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1490</Words>
  <Application>Microsoft Office PowerPoint</Application>
  <PresentationFormat>Custom</PresentationFormat>
  <Paragraphs>192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2026-07-11T17:49:34Z</dcterms:created>
  <dcterms:modified xsi:type="dcterms:W3CDTF">2026-07-11T17:49:34Z</dcterms:modified>
</cp:coreProperties>
</file>